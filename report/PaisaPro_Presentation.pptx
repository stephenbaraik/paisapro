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2743200" cy="2743200"/>
          </a:xfrm>
          <a:prstGeom prst="ellipse">
            <a:avLst/>
          </a:prstGeom>
          <a:solidFill>
            <a:srgbClr val="6366F1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486400"/>
            <a:ext cx="3657600" cy="3657600"/>
          </a:xfrm>
          <a:prstGeom prst="ellipse">
            <a:avLst/>
          </a:prstGeom>
          <a:solidFill>
            <a:srgbClr val="6366F1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914400"/>
            <a:ext cx="2286000" cy="2286000"/>
          </a:xfrm>
          <a:prstGeom prst="ellipse">
            <a:avLst/>
          </a:prstGeom>
          <a:solidFill>
            <a:srgbClr val="6366F1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MIMS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65760"/>
            <a:ext cx="828185" cy="822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97680" y="1417320"/>
            <a:ext cx="3657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PaisaPro.ai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Segoe UI"/>
              </a:defRPr>
            </a:pPr>
            <a:r>
              <a:t>AI-Powered Investment Advisory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for the Indian Equity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 Full-Stack System Integrating Quantitative Finance, Machine Learning,</a:t>
            </a:r>
            <a:br/>
            <a:r>
              <a:t>and Large Language Models for Retail Investor Decision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Stephen Baraik (86032300068)    |    Tanisha Ghosh (86032300074)    |    Sneha Das (86032300029)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Under the supervision of Dr. Suresh Pathare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Associate Professor, Data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SVKM's NMIMS University  ·  SOMASA  ·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411480" cy="4114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29968"/>
            <a:ext cx="411480" cy="4114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075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88336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340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346704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3924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Data Pipeline &amp; Database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4005072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0507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Analytics Engine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663439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7091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Machine Learning Pipeline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32180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3675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Time-Series &amp; Volatility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Risk &amp; Portfolio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029968"/>
            <a:ext cx="411480" cy="4114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075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Agentic AI Advisor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688336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7340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Tech Stack &amp; Frontend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346704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3924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Results &amp; Validation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005072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0507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Comparison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663439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7091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Limitations &amp; Future Work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5321808"/>
            <a:ext cx="411480" cy="4114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53675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Why we built PaisaPro.ai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Segoe UI"/>
              </a:defRPr>
            </a:pPr>
            <a:r>
              <a:t>150M+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Demat Accounts in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37160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₹20K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Monthly SIP Inflows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Segoe UI"/>
              </a:defRPr>
            </a:pPr>
            <a:r>
              <a:t>4+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Disconnected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520" y="2931080"/>
            <a:ext cx="33732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Analytics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ARIMA, GARCH, Fama-French, Markowitz require deep expertise in statistics &amp; programming. No single Indian platform integrates all of these.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29260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5559" y="2931080"/>
            <a:ext cx="3373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AI Advisory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33832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LLMs like ChatGPT give generic advice without live market data, real-time signals, or user portfolio context. Advice is outdated by design.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9260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4600" y="2931080"/>
            <a:ext cx="337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Tool Fragmentation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3832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Retail investors juggle Screener.in (fundamentals) + TradingView (charts) + Groww (trading) + ChatGPT (advice) — 4 disconnected tools.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577840"/>
            <a:ext cx="8503920" cy="54864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6235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No single platform unifies quantitative analytics, ML, and AI advisory for Indian retail investors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Our Solution: Four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51760" cy="3840480"/>
          </a:xfrm>
          <a:prstGeom prst="roundRect">
            <a:avLst>
              <a:gd name="adj" fmla="val 6000"/>
            </a:avLst>
          </a:prstGeom>
          <a:solidFill>
            <a:srgbClr val="E0E1F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146304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Segoe UI"/>
              </a:defRPr>
            </a:pPr>
            <a:r>
              <a:t>Quantitative</a:t>
            </a:r>
            <a:br/>
            <a:r>
              <a:t>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ARIMA forecasting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GARCH(1,1) volatility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Fama-French 4-factor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Markowitz MVO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Monte Carlo (1K sims)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651760" cy="3840480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14630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194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Machine</a:t>
            </a:r>
            <a:br/>
            <a:r>
              <a:t>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Random Forest classifier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3-model regression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Isolation Forest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K-Means clustering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Walk-forward CV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651760" cy="3840480"/>
          </a:xfrm>
          <a:prstGeom prst="roundRect">
            <a:avLst>
              <a:gd name="adj" fmla="val 6000"/>
            </a:avLst>
          </a:prstGeom>
          <a:solidFill>
            <a:srgbClr val="CFFAF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0" y="146304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94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Agentic</a:t>
            </a:r>
            <a:br/>
            <a:r>
              <a:t>AI 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346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Llama 3.3 70B via Groq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4 live function-calling tools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Portfolio context injection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SSE streaming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Multi-turn reasoning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80160"/>
            <a:ext cx="2651760" cy="38404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6960" y="14630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&lt; 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194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Full-Stack</a:t>
            </a:r>
            <a:br/>
            <a:r>
              <a:t>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83464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React 19 + TypeScript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FastAPI backend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18 pages · 35+ APIs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Dark/light themes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Cloud deployed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9496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440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500+ NSE Stocks  ·  Daily Auto-Refresh  ·  Sub-100ms Cached Responses  ·  19 Service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Layered monolithic design with 19 independent service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371600" cy="640080"/>
          </a:xfrm>
          <a:prstGeom prst="roundRect">
            <a:avLst>
              <a:gd name="adj" fmla="val 6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280160"/>
            <a:ext cx="9326880" cy="640080"/>
          </a:xfrm>
          <a:prstGeom prst="roundRect">
            <a:avLst>
              <a:gd name="adj" fmla="val 4000"/>
            </a:avLst>
          </a:prstGeom>
          <a:solidFill>
            <a:srgbClr val="E0E1F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3716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React 19  +  TypeScript  +  Tailwind CSS  +  Recharts  ·  18 Interactive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1371600" cy="64008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API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286000"/>
            <a:ext cx="9326880" cy="64008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3774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FastAPI  ·  6 Routers  ·  35+ Endpoints  ·  Pydantic v2 Validation  ·  CORS + 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1371600" cy="640080"/>
          </a:xfrm>
          <a:prstGeom prst="roundRect">
            <a:avLst>
              <a:gd name="adj" fmla="val 6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3291840"/>
            <a:ext cx="9326880" cy="640080"/>
          </a:xfrm>
          <a:prstGeom prst="roundRect">
            <a:avLst>
              <a:gd name="adj" fmla="val 4000"/>
            </a:avLst>
          </a:prstGeom>
          <a:solidFill>
            <a:srgbClr val="CFFAF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3832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Technical Analysis  |  ML Models (RF, GBM, EN)  |  Forecasting (ARIMA, GARCH)  |  AI Advisor (Groq)  |  Risk Factors  |  Sector Rotation  |  News Sentiment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1371600" cy="6400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4297680"/>
            <a:ext cx="9326880" cy="6400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3891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Supabase PostgreSQL  ·  yfinance API  ·  Groq LLM API  ·  Google News RSS  ·  In-Memory TTL Cache (5 tiers)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43600" y="1920240"/>
            <a:ext cx="36576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5943600" y="2926080"/>
            <a:ext cx="36576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943600" y="3931920"/>
            <a:ext cx="36576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30352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5080" y="5308520"/>
            <a:ext cx="3190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40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60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Frontend: Netlify CDN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Backend: HF Spaces (Docker)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Database: Supabase Cloud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LLM: Groq Cloud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530352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11240" y="5308520"/>
            <a:ext cx="346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5440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Cache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760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Indices: 5 min TTL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News/Macro: 30 min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Analytics: 1–2 hours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ML Models/Prices: 24 hours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530352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51720" y="5308520"/>
            <a:ext cx="346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5440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760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CORS whitelist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Env-var secrets (no client keys)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Supabase RLS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Pydantic input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Data Pipeline &amp;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Automated daily refresh for 500+ NSE stocks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5080" y="1285160"/>
            <a:ext cx="5019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Daily Refresh Pipeline (6 PM IST)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Oval 8"/>
          <p:cNvSpPr/>
          <p:nvPr/>
        </p:nvSpPr>
        <p:spPr>
          <a:xfrm>
            <a:off x="914400" y="182880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Clear all in-memory caches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04288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Batch-fetch OHLCV via yfinance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79776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797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Upsert 500+ stocks into Supabase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255264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552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Compute 30+ technical indicators (SMA, EMA, MACD, RSI, BB, ATR)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730752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30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Refresh macro data (VIX, USD/INR, Gold, Crude Oil)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20624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Pre-warm analytics report cache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681728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81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Retrain 500+ Random Forest classifiers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128016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40040" y="1285160"/>
            <a:ext cx="5476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Database Schema (Supabase PostgreSQL)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7373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stocks — symbol (PK), company_name, sector, current_price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stock_prices — (symbol, date) PK, OHLCV + 30 indicators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macro_prices — (ticker, date) PK, close price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portfolio_holdings — user holdings with buy price/date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watchlist — user watchlist items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657600"/>
            <a:ext cx="54864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40040" y="3662600"/>
            <a:ext cx="5476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794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Indexing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1148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(symbol, date) UNIQUE — fast lookup + upsert dedup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(symbol) — per-stock history queries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(date) — cross-stock date range queries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(sector) — sector-based filtering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(user_id) — user-specific portfolio queries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Analytics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7-indicator weighted composite signal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731520" cy="4114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RSI (14)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898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&lt; 30 → BUY (+2),  &gt; 70 → SELL (−2)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731520" cy="4114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11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MACD (12,26,9)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29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Above signal → BUY,  Below → SELL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51760"/>
            <a:ext cx="731520" cy="4114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Bollinger Bands (20,2)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70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Below lower → BUY,  Above upper → SELL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91839"/>
            <a:ext cx="731520" cy="4114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5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2918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ATR (14)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31012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Low relative → favorable,  High → caution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731520" cy="4114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931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ADX (14)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950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&gt; 25 trending,  +DI vs −DI direction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72000"/>
            <a:ext cx="731520" cy="4114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VWAP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902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Price &gt; VWAP → bullish bias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12079"/>
            <a:ext cx="731520" cy="4114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5779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212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OBV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23036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Rising OBV → buying pressure confirmation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1280160"/>
            <a:ext cx="3931920" cy="2560320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Composite Signal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19202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Score = Σ wᵢ · sᵢ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Score &gt; +0.3  →  BUY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Score ∈ [−0.3, +0.3]  →  HOLD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Score &lt; −0.3  →  SELL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4114800"/>
            <a:ext cx="3931920" cy="1645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4206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Typical Nifty 500 Distribution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BUY      120–180 stocks    (24–36%)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HOLD    200–280 stocks    (40–56%)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SELL     80–140 stocks      (16–28%)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Confidence: percentage of indicators agreeing with composite direction (30%–90%+)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Machine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Classification, regression ensemble, anomaly detection &amp; clustering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2200" y="1285160"/>
            <a:ext cx="36476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Random Forest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Task: 5-day directional prediction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100 decision trees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252-day rolling training window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Features: RSI, MACD, BB width, vol ratio, price vs SMA20, daily return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Accuracy: 52–58% (above 50% random baseline)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2200" y="4119800"/>
            <a:ext cx="364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Unsupervised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K-Means (k=4): Defensive · Value · Momentum · High-Vol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Features: volatility, momentum, beta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Isolation Forest: anomaly detection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Detects earnings spikes, index rebalancing, panics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80160"/>
            <a:ext cx="71323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4120" y="1285160"/>
            <a:ext cx="7122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3-Model Regression Ensemble — 30-Day Return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3736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663440" y="1920240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965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Segoe UI"/>
              </a:defRPr>
            </a:pPr>
            <a: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200 trees, depth 6, √p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920240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965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ElasticNet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L1+L2, RobustScaler, winsorized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920240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965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HistGradientBoosting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100 est, LR 0.05, early stopping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01752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Key Innovations: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32+ features: OHLC microstructure + technicals + extended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Vol-adjusted log-return target: y = ln(Ct+h/Ct) / σ₂₀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Walk-forward CV with embargo gap (prevents look-ahead bias)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Sharpe-weighted ensemble: ŷ = Σ(SRₘ · ŷₘ) / Σ SRₘ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80% confidence interval from RF tree distribution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▸  Directional accuracy: 55–60% (ensemble &gt; individual models)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Time-Series &amp; Volatility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ARIMA, Holt-Winters ETS, and GARCH(1,1)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2200" y="1285160"/>
            <a:ext cx="52935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ARIMA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Stationarity: ADF + KPSS dual tests with auto-differencing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Grid search: p ∈ {0..3}, d ∈ {0..2}, q ∈ {0..3} → 48 candidates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Selection: AIC minimization (lower = better)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Output: 30-day forecast + 95% confidence intervals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Win rate: ~60% of stocks (vs ETS/linear)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2200" y="3936920"/>
            <a:ext cx="529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Holt-Winters Exponential Smoothing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ŷ(t+h) = lₜ + Σ φʲ · bₜ (damped additive trend)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No seasonal component (daily stock data)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Better for mean-reverting stocks (~30% win rate)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Seasonal decomposition: STL with period=5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28016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31480" y="1285160"/>
            <a:ext cx="5293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GARCH(1,1) Volatility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σ²ₜ = ω + α·ε²ₜ₋₁ + β·σ²ₜ₋₁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Captures volatility clustering (high vol → high vol)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Persistence α + β ≈ 0.95 (slow mean reversion)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Half-life: ~13.5 trading days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30-day conditional volatility forecast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MLE estimation via arch library (BFGS optimizer)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2976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1480" y="4302680"/>
            <a:ext cx="5293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434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Volatility Regime 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54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LOW (&lt; 25th percentile)  →  Entry Signal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NORMAL (25th–75th)  →  Neutral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HIGH (75th–95th)  →  Caution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EXTREME (≥ 95th)  →  Strong Caution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Risk Analytics &amp; Portfolio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Fama-French, Markowitz MVO, and Monte Carlo wealth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2200" y="1285160"/>
            <a:ext cx="5476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Fama-French 4-Factor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Rᵢ − Rf = α + β₁·MKT + β₂·SMB + β₃·HML + β₄·MOM + ε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Market: Nifty 50 excess returns (Rf = 6.5%)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SMB: Small − Big (size premium)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HML: High − Low (value premium)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MOM: Winners − Losers (momentum factor)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2200" y="3754039"/>
            <a:ext cx="5476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861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Risk Metrics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Sharpe · Sortino · Beta · Jensen's Alpha · VaR(95%)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Max Drawdown · Annualized Volatility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Risk-free rate: 6.5% (10Y G-Sec yield)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2920" y="1285160"/>
            <a:ext cx="5293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Markowitz Mean-Variance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min w'Σw  s.t.  Σwᵢ = 1,  wᵢ ≤ 0.4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2,000 Monte Carlo random portfolios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SLSQP constrained optimization (scipy)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Identifies: min-variance &amp; max-Sharpe portfolios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Efficient frontier scatter visualization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920" y="3754039"/>
            <a:ext cx="5293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8619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Monte Carlo Wealth Planner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06239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1,000 simulations per scenario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Monthly SIP with annual step-up support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P10 / P25 / P50 / P75 / P90 wealth bands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Goal-based reverse SIP solver (binary search)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3 risk profiles: Conservative (9%) / Moderate (12%) / Aggressive (15%)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Agentic AI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The key differentiator — LLM with autonomous tool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560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"Analyze Reliance"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560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25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Context Inject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45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Profile + Portfolio</a:t>
            </a:r>
            <a:br/>
            <a:r>
              <a:t>+ Market Snapshot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560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Llama 3.3 70B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via Groq</a:t>
            </a:r>
            <a:br/>
            <a:r>
              <a:t>(500+ tok/s)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280160"/>
            <a:ext cx="2560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325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SSE 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645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Token-by-token</a:t>
            </a:r>
            <a:br/>
            <a:r>
              <a:t>to React frontend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08960" y="1600200"/>
            <a:ext cx="32004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989320" y="1600200"/>
            <a:ext cx="32004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869680" y="1600200"/>
            <a:ext cx="32004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0" y="2560320"/>
            <a:ext cx="5760720" cy="13716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2606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4 Live Function-Calling Tools (up to 3 autonomous rounds)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get_stock_analysis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Technical signals, risk metrics, RF probability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get_macro_dashboard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VIX, USD/INR, Gold, Oil + market regime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get_news_sentiment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Headline sentiment scores for stocks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run_screener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Filter by signal, sector, Sharpe, drawdown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0624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2200" y="4211240"/>
            <a:ext cx="5476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43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What Makes It "Agentic"?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LLM autonomously decides when to call tools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Multi-turn reasoning with tool results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Portfolio-aware personalized advice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Every recommendation backed by live quant data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Inspired by Toolformer &amp; ReAct frameworks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06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22920" y="4211240"/>
            <a:ext cx="5293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343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Beyond Static RAG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663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Static RAG: inject data → generate (one-shot)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Agentic: reason → decide tool → fetch → synthesize → respond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Model: Llama 3.3 70B Versatile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Provider: Groq LPU (500+ tokens/sec)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First token: 2–5 seconds (SSE streaming)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Technology Stack &amp;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Modern full-stack architecture with 18 interactive 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2200" y="1193720"/>
            <a:ext cx="34647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Python 3.12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FastAPI 0.111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pandas 2.2 + numpy 1.26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scikit-learn 1.8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statsmodels 0.14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arch 8.0 (GARCH)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scipy 1.17 (optimization)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yfinance 0.2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Pydantic v2 + httpx 0.27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188720"/>
            <a:ext cx="34747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1240" y="1193720"/>
            <a:ext cx="346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2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React 19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TypeScript 5.9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Vite 8.0 (build tool)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Tailwind CSS 4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Recharts 3.8 (7 chart types)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Zustand 5.0 (state)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TanStack React Query 5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React Router 7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Axios 1.13 + react-markdown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188720"/>
            <a:ext cx="34747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0279" y="1193720"/>
            <a:ext cx="346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64592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Supabase (PostgreSQL + RLS)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Hugging Face Spaces (Docker)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Netlify CDN (frontend)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Groq Cloud (LLM inference)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APScheduler (daily cron)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Docker: Python 3.12-slim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Uvicorn ASGI server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Port 7860 (HF Spaces)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18 Interactive Frontend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Segoe UI"/>
              </a:defRPr>
            </a:pPr>
            <a:r>
              <a:t>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Dashboard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AI Advisor Chat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Portfolio Manager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Analytics Report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Stock Screener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Portfolio 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Advanced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1206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Time-Series Forecast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Volatility Forecast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Sector Rotation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Macro Dashboard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Risk Factors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ML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1206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Forward Planner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Goal Planner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Scenario Compare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News Sentiment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Model Health (MLOps)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4155"/>
                </a:solidFill>
                <a:latin typeface="Segoe UI"/>
              </a:defRPr>
            </a:pPr>
            <a:r>
              <a:t>▸  Landing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Results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Comprehensive testing across all system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Segoe UI"/>
              </a:defRPr>
            </a:pPr>
            <a:r>
              <a:t>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Stocks Analyzed</a:t>
            </a:r>
            <a:br/>
            <a:r>
              <a:t>Daily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371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35+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874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API Endpoints</a:t>
            </a:r>
            <a:br/>
            <a:r>
              <a:t>Tested &amp;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Segoe UI"/>
              </a:defRPr>
            </a:pPr>
            <a:r>
              <a:t>&lt; 100ms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Cached Response</a:t>
            </a:r>
            <a:br/>
            <a:r>
              <a:t>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1887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371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Segoe UI"/>
              </a:defRPr>
            </a:pPr>
            <a:r>
              <a:t>2–5s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74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LLM First Token</a:t>
            </a:r>
            <a:br/>
            <a:r>
              <a:t>(Groq SSE)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2200" y="2748200"/>
            <a:ext cx="5476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80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Model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RF Classifier accuracy: 52–58% (above 50% baseline)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Regression ensemble dir. accuracy: 55–60%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GARCH persistence (α+β): ~0.95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ARIMA best-model rate: ~60% of stocks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RSI vs TradingView: &lt; 0.5% deviation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MACD vs TradingView: &lt; 0.3% deviation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Prices vs Yahoo Finance: 0% deviation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432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2920" y="2748200"/>
            <a:ext cx="529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Testing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API endpoint tests: 35/35 passed ✓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Edge case tests: 15/15 passed ✓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Frontend page tests: 18/18 passed ✓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Cross-browser: 6/6 browsers ✓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Responsive breakpoints: 6/6 (320px → 2560px) ✓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WCAG 2.1 AA accessibility: compliant ✓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All 14 project objectives achieved 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0352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Cold build: 30–60s  →  Cached: &lt; 100ms  |  Pre-warm pipeline ensures zero cold-start for standard 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Comparison with Existing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PaisaPro.ai is the only platform combining all 12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280160"/>
            <a:ext cx="2926080" cy="384048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280160"/>
            <a:ext cx="1188720" cy="384048"/>
          </a:xfrm>
          <a:prstGeom prst="roundRect">
            <a:avLst>
              <a:gd name="adj" fmla="val 2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325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PaisaPro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280160"/>
            <a:ext cx="1371600" cy="384048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Screener.in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280160"/>
            <a:ext cx="1554480" cy="384048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25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TradingView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914400" cy="384048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Groww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280160"/>
            <a:ext cx="1188720" cy="384048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325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ChatGPT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1664208"/>
            <a:ext cx="29260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1709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Technical Signals (7 indicators)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1664208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6824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1664208"/>
            <a:ext cx="13716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16824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664208"/>
            <a:ext cx="15544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68249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664208"/>
            <a:ext cx="9144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6824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1664208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16824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2048256"/>
            <a:ext cx="29260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20939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ML Classification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60" y="2048256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20665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2048256"/>
            <a:ext cx="13716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20665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2048256"/>
            <a:ext cx="15544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20665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2048256"/>
            <a:ext cx="9144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20665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2048256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20665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2432304"/>
            <a:ext cx="29260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20" y="24780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ML Regression Ensemble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23360" y="2432304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0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80" y="2432304"/>
            <a:ext cx="13716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80" y="2450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2432304"/>
            <a:ext cx="15544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2450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2432304"/>
            <a:ext cx="9144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0" y="2450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52560" y="2432304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7280" y="2816352"/>
            <a:ext cx="29260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88720" y="2862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ARIMA / ETS Forecast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23360" y="2816352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23360" y="2834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212080" y="2816352"/>
            <a:ext cx="13716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08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0" y="2816352"/>
            <a:ext cx="15544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0" y="2834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8160" y="2816352"/>
            <a:ext cx="9144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60" y="2834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52560" y="2816352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52560" y="2834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97280" y="3200400"/>
            <a:ext cx="29260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8872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GARCH Volatility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3200400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23360" y="32186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212080" y="3200400"/>
            <a:ext cx="13716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0" y="3218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0" y="3200400"/>
            <a:ext cx="15544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0" y="3218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138160" y="3200400"/>
            <a:ext cx="9144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38160" y="32186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52560" y="3200400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52560" y="32186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97280" y="3584448"/>
            <a:ext cx="29260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88720" y="3630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Fama-French 4-Factor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023360" y="3584448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23360" y="36027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212080" y="3584448"/>
            <a:ext cx="13716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12080" y="36027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583680" y="3584448"/>
            <a:ext cx="15544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83680" y="36027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38160" y="3584448"/>
            <a:ext cx="9144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38160" y="360273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52560" y="3584448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52560" y="36027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97280" y="3968496"/>
            <a:ext cx="29260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88720" y="40142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Portfolio Optimization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023360" y="3968496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023360" y="39867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212080" y="3968496"/>
            <a:ext cx="13716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12080" y="39867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83680" y="3968496"/>
            <a:ext cx="15544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83680" y="39867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138160" y="3968496"/>
            <a:ext cx="9144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38160" y="39867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52560" y="3968496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52560" y="39867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97280" y="4352544"/>
            <a:ext cx="29260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88720" y="4398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Monte Carlo Planning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023360" y="4352544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023360" y="43708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212080" y="4352544"/>
            <a:ext cx="13716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12080" y="4370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583680" y="4352544"/>
            <a:ext cx="15544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583680" y="43708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138160" y="4352544"/>
            <a:ext cx="9144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138160" y="43708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052560" y="4352544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052560" y="43708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97280" y="4736592"/>
            <a:ext cx="29260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88720" y="4782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AI Advisory (Live Data)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023360" y="4736592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023360" y="4754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212080" y="4736592"/>
            <a:ext cx="13716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21208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583680" y="4736592"/>
            <a:ext cx="15544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583680" y="4754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138160" y="4736592"/>
            <a:ext cx="9144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3816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052560" y="4736592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052560" y="4754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~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97280" y="5120640"/>
            <a:ext cx="29260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887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Agentic Tool Use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023360" y="5120640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023360" y="51389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212080" y="5120640"/>
            <a:ext cx="13716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212080" y="51389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583680" y="5120640"/>
            <a:ext cx="15544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83680" y="51389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138160" y="5120640"/>
            <a:ext cx="9144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138160" y="51389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052560" y="5120640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052560" y="51389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97280" y="5504688"/>
            <a:ext cx="29260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88720" y="5550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Portfolio Tracking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023360" y="5504688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023360" y="55229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212080" y="5504688"/>
            <a:ext cx="13716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212080" y="5522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583680" y="5504688"/>
            <a:ext cx="155448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583680" y="55229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138160" y="5504688"/>
            <a:ext cx="91440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138160" y="55229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052560" y="5504688"/>
            <a:ext cx="1188720" cy="38404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052560" y="55229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097280" y="5888736"/>
            <a:ext cx="29260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88720" y="59344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News Sentiment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023360" y="5888736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023360" y="59070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212080" y="5888736"/>
            <a:ext cx="13716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212080" y="59070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583680" y="5888736"/>
            <a:ext cx="155448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583680" y="59070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138160" y="5888736"/>
            <a:ext cx="9144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138160" y="59070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052560" y="5888736"/>
            <a:ext cx="118872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052560" y="59070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286000" y="6126480"/>
            <a:ext cx="7589520" cy="457200"/>
          </a:xfrm>
          <a:prstGeom prst="roundRect">
            <a:avLst>
              <a:gd name="adj" fmla="val 10000"/>
            </a:avLst>
          </a:prstGeom>
          <a:solidFill>
            <a:srgbClr val="E0E1F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286000" y="615391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PaisaPro.ai: 12/12 capabilities  |  Closest competitor: 1–2/12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Limitations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2200" y="1193720"/>
            <a:ext cx="5293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1.  Single-user mode (hardcoded user ID)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2.  Daily OHLCV only (no intraday data)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3.  Keyword-based sentiment (not FinBERT)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4.  Proxy Fama-French factors (not academic factor portfolios)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5.  Normal distribution assumption in Monte Carlo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6.  LLM hallucination risk (despite context grounding)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7.  No comprehensive walk-forward portfolio backtest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88720"/>
            <a:ext cx="530352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31480" y="1193720"/>
            <a:ext cx="529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Proposed 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1.  JWT multi-user authentication (Supabase Auth)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2.  FinBERT transformer-based sentiment analysis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3.  Intraday data support (5-min / 15-min candles)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4.  Fama-French 5-factor model (+ Quality, Investment)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5.  Options analytics (Greeks, implied volatility surface)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6.  Walk-forward portfolio backtesting with tx costs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7.  React Native mobile application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8.  Real-time WebSocket price feeds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9.  Fundamental analysis (P/E, P/B, debt ratios)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10. SEBI RIA compliance exploration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2200" y="4394120"/>
            <a:ext cx="5293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Key Lessons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Caching is critical — 30s → &lt;100ms with TTL cache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Model simplicity wins for daily data (250–1250 obs)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Agentic prompt engineering requires iteration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SSE streaming transforms perceived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Segoe UI"/>
              </a:defRPr>
            </a:pPr>
            <a:r>
              <a:t>500+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NSE Stocks</a:t>
            </a:r>
            <a:br/>
            <a:r>
              <a:t>Analyzed Daily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1887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371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874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Backend Service</a:t>
            </a:r>
            <a:br/>
            <a:r>
              <a:t>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Agentic AI</a:t>
            </a:r>
            <a:br/>
            <a:r>
              <a:t>Live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1887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371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Segoe UI"/>
              </a:defRPr>
            </a:pPr>
            <a:r>
              <a:t>14/14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874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Project Objectives</a:t>
            </a:r>
            <a:br/>
            <a:r>
              <a:t>Achieved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26080"/>
            <a:ext cx="112471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2200" y="2931080"/>
            <a:ext cx="112371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632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Key Contributions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1.  First platform to integrate ARIMA, GARCH, Fama-French, Markowitz, Monte Carlo, ML classification, ML regression, and agentic LLM advisory in one system for Indian retail investors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2.  Novel agentic AI advisor with 4 live function-calling tools — moves beyond static RAG toward autonomous multi-step reasoning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3.  Robust 3-model ML regression ensemble with OHLC microstructure features, vol-adjusted targets, and walk-forward validation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4.  Production-grade architecture: 19 independent modules, 5-tier TTL cache, daily auto-refresh pipeline, Docker deployment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Segoe UI"/>
              </a:defRPr>
            </a:pPr>
            <a:r>
              <a:t>5.  18-page responsive React frontend making institutional-grade analytics accessible to retail investors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486400"/>
            <a:ext cx="941832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5778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PaisaPro.ai demonstrates that institutional-grade financial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can be democratized for 150M+ Indian retail investors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3200400" cy="3200400"/>
          </a:xfrm>
          <a:prstGeom prst="ellipse">
            <a:avLst/>
          </a:prstGeom>
          <a:solidFill>
            <a:srgbClr val="6366F1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274320"/>
            <a:ext cx="2743200" cy="2743200"/>
          </a:xfrm>
          <a:prstGeom prst="ellipse">
            <a:avLst/>
          </a:prstGeom>
          <a:solidFill>
            <a:srgbClr val="6366F1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4572000"/>
            <a:ext cx="1828800" cy="1828800"/>
          </a:xfrm>
          <a:prstGeom prst="ellipse">
            <a:avLst/>
          </a:prstGeom>
          <a:solidFill>
            <a:srgbClr val="6366F1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MIMS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731520"/>
            <a:ext cx="736165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743200"/>
            <a:ext cx="3657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Stephen Baraik  ·  Tanisha Ghosh  ·  Sneha 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Supervisor: Dr. Suresh Pathare  |  Associate Professor,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SVKM's NMIMS University  ·  SOMASA  · 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